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259" r:id="rId6"/>
    <p:sldId id="903" r:id="rId7"/>
    <p:sldId id="258" r:id="rId8"/>
    <p:sldId id="260" r:id="rId9"/>
    <p:sldId id="90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23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23-09-2026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71943"/>
              </p:ext>
            </p:extLst>
          </p:nvPr>
        </p:nvGraphicFramePr>
        <p:xfrm>
          <a:off x="8193271" y="4898509"/>
          <a:ext cx="3702050" cy="14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40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 – CNAD12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2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Pasupuleti Moukshitha – 2420030164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Kamalesh Battula – 2420030156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Nitish Chowdary Potla – 2420030642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16756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Srilatha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23-09-2026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CNAD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Cloud-Native Employee Attendance and Leave Management System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000" b="1" dirty="0">
                <a:solidFill>
                  <a:srgbClr val="1560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24CND3101 – Cloud-Native Application Development and Container Orchestration (CNAD)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23-09-26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CNAD Review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Review-2 Presentation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Implementation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Module Integration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Presentation &amp; Demonstration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Individual Contribution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Viva Voce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Problem &amp; Requirements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System Architecture &amp; Design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Module-wise Description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Problem Definition &amp; Requirements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37160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595959"/>
                </a:solidFill>
                <a:latin typeface="Calibri"/>
              </a:rPr>
              <a:t>Core requirement: a resilient, independently scalable HR platform — built on microservices, containers, an API Gateway, and automated CI/CD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3511296" cy="278892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606040"/>
            <a:ext cx="29992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C7DCEA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200400"/>
            <a:ext cx="29992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0E2841"/>
                </a:solidFill>
                <a:latin typeface="Cambria"/>
              </a:rPr>
              <a:t>Functional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840480"/>
            <a:ext cx="299923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Employee/Auth, QR &amp; web check-in, leave apply/approve, and real-time notifications, each as an independent service.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5" y="2423160"/>
            <a:ext cx="3511296" cy="278892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2606040"/>
            <a:ext cx="29992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C7DCEA"/>
                </a:solidFill>
                <a:latin typeface="Cambr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200400"/>
            <a:ext cx="29992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0E2841"/>
                </a:solidFill>
                <a:latin typeface="Cambria"/>
              </a:rPr>
              <a:t>Non-Functional 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840480"/>
            <a:ext cx="299923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Independent scalability, self-healing, zero-downtime rolling updates, and sub-second API response under peak load.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1" y="2423160"/>
            <a:ext cx="3511296" cy="278892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75903" y="2606040"/>
            <a:ext cx="29992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C7DCEA"/>
                </a:solidFill>
                <a:latin typeface="Cambr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3" y="3200400"/>
            <a:ext cx="29992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0E2841"/>
                </a:solidFill>
                <a:latin typeface="Cambria"/>
              </a:rPr>
              <a:t>Technical &amp; DevOps 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3" y="3840480"/>
            <a:ext cx="299923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Docker containers, Kubernetes orchestration, database-per-service, and an automated CI/CD pipeline with IaC.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796000" y="567351"/>
            <a:ext cx="106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System Architecture &amp;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4173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595959"/>
                </a:solidFill>
                <a:latin typeface="Calibri"/>
              </a:rPr>
              <a:t>Four microservices, each with its own database, sit behind an API Gateway on Kubernetes; REST handles sync calls and a message broker handles async events.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727" y="2057400"/>
            <a:ext cx="8778240" cy="461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Module Design &amp; Implementation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3716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595959"/>
                </a:solidFill>
                <a:latin typeface="Calibri"/>
              </a:rPr>
              <a:t>Each module is an independently deployable microservice, containerized with Docker and implemented with its own database and API.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2121408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2103120"/>
            <a:ext cx="9464040" cy="676656"/>
          </a:xfrm>
          <a:prstGeom prst="roundRect">
            <a:avLst>
              <a:gd name="adj" fmla="val 18000"/>
            </a:avLst>
          </a:prstGeom>
          <a:solidFill>
            <a:srgbClr val="F4F7F9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00200" y="2103120"/>
            <a:ext cx="89611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Employee/Auth Service — employee profiles, login, and JWT-based authentication; owns the Auth DB.</a:t>
            </a:r>
          </a:p>
        </p:txBody>
      </p:sp>
      <p:sp>
        <p:nvSpPr>
          <p:cNvPr id="10" name="Oval 9"/>
          <p:cNvSpPr/>
          <p:nvPr/>
        </p:nvSpPr>
        <p:spPr>
          <a:xfrm>
            <a:off x="676656" y="2944368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2926079"/>
            <a:ext cx="9464040" cy="676656"/>
          </a:xfrm>
          <a:prstGeom prst="roundRect">
            <a:avLst>
              <a:gd name="adj" fmla="val 18000"/>
            </a:avLst>
          </a:prstGeom>
          <a:solidFill>
            <a:srgbClr val="F4F7F9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00200" y="2926079"/>
            <a:ext cx="89611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Attendance Service — web &amp; QR-code check-in/check-out with real-time logging; owns the Attendance DB.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" y="3767328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3749039"/>
            <a:ext cx="9464040" cy="676656"/>
          </a:xfrm>
          <a:prstGeom prst="roundRect">
            <a:avLst>
              <a:gd name="adj" fmla="val 18000"/>
            </a:avLst>
          </a:prstGeom>
          <a:solidFill>
            <a:srgbClr val="F4F7F9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00200" y="3749039"/>
            <a:ext cx="89611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Leave Management Service — leave apply, balance tracking, and configurable manager-approval workflow; owns the Leave DB.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" y="4590288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4572000"/>
            <a:ext cx="9464040" cy="676656"/>
          </a:xfrm>
          <a:prstGeom prst="roundRect">
            <a:avLst>
              <a:gd name="adj" fmla="val 18000"/>
            </a:avLst>
          </a:prstGeom>
          <a:solidFill>
            <a:srgbClr val="F4F7F9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00200" y="4572000"/>
            <a:ext cx="89611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Notification Service — consumes events from the message broker and sends email/in-app alerts on approvals.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" y="5413248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5394960"/>
            <a:ext cx="9464040" cy="676656"/>
          </a:xfrm>
          <a:prstGeom prst="roundRect">
            <a:avLst>
              <a:gd name="adj" fmla="val 18000"/>
            </a:avLst>
          </a:prstGeom>
          <a:solidFill>
            <a:srgbClr val="F4F7F9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00200" y="5394960"/>
            <a:ext cx="89611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Implementation stack — Docker, Kubernetes, Helm, REST + event broker, Git-based CI/CD with centralized monitoring.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1346000" y="600078"/>
            <a:ext cx="95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Module Integration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48132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595959"/>
                </a:solidFill>
                <a:latin typeface="Calibri"/>
              </a:rPr>
              <a:t>All four microservices are integrated through a common gateway, synchronous APIs, an event bus, and a shared delivery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5257800" cy="141732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2948939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587752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E2841"/>
                </a:solidFill>
                <a:latin typeface="Cambria"/>
              </a:rPr>
              <a:t>API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953512"/>
            <a:ext cx="4251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Single entry point for all clients; handles routing, auth-token validation, and rate limiting to every service.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59" y="2423160"/>
            <a:ext cx="5257800" cy="141732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09359" y="2948939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7999" y="2587752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E2841"/>
                </a:solidFill>
                <a:latin typeface="Cambria"/>
              </a:rPr>
              <a:t>Synchronous REST APIs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7999" y="2953512"/>
            <a:ext cx="4251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Direct service-to-service calls for request/response flows, such as validating an employee during check-in.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5257800" cy="141732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4640580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279392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E2841"/>
                </a:solidFill>
                <a:latin typeface="Cambria"/>
              </a:rPr>
              <a:t>Event-Driven Messaging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645152"/>
            <a:ext cx="4251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A message broker carries async events — e.g., a leave-approval decision triggers a Notification Service alert.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59" y="4114800"/>
            <a:ext cx="5257800" cy="141732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noFill/>
          </a:ln>
          <a:effectLst>
            <a:outerShdw blurRad="90000" dist="30000" dir="5400000" rotWithShape="0">
              <a:srgbClr val="1B1B1B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09359" y="4640580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4279392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E2841"/>
                </a:solidFill>
                <a:latin typeface="Cambria"/>
              </a:rPr>
              <a:t>CI/CD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7999" y="4645152"/>
            <a:ext cx="4251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Every code change is built, tested, containerized, and deployed to Kubernetes via Helm charts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1496000" y="551058"/>
            <a:ext cx="920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Presentation &amp; Demonstration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0876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595959"/>
                </a:solidFill>
                <a:latin typeface="Calibri"/>
              </a:rPr>
              <a:t>Live walkthrough of the deployed system on Kubernetes, from employee login through to the monitoring dashboard.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59" y="3227832"/>
            <a:ext cx="8595361" cy="0"/>
          </a:xfrm>
          <a:prstGeom prst="line">
            <a:avLst/>
          </a:prstGeom>
          <a:ln w="3175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94359" y="2999232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8775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Cambria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Cambria"/>
              </a:rPr>
              <a:t>Login &amp;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19659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Calibri"/>
              </a:rPr>
              <a:t>Employee login via the Auth service, routed through the API Gateway.</a:t>
            </a:r>
          </a:p>
        </p:txBody>
      </p:sp>
      <p:sp>
        <p:nvSpPr>
          <p:cNvPr id="12" name="Oval 11"/>
          <p:cNvSpPr/>
          <p:nvPr/>
        </p:nvSpPr>
        <p:spPr>
          <a:xfrm>
            <a:off x="2743200" y="2999232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58775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Cambria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56616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Cambria"/>
              </a:rPr>
              <a:t>Attendance &amp; Leave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4023360"/>
            <a:ext cx="19659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Calibri"/>
              </a:rPr>
              <a:t>QR/web check-in, then a leave application routed for manager approval.</a:t>
            </a:r>
          </a:p>
        </p:txBody>
      </p:sp>
      <p:sp>
        <p:nvSpPr>
          <p:cNvPr id="16" name="Oval 15"/>
          <p:cNvSpPr/>
          <p:nvPr/>
        </p:nvSpPr>
        <p:spPr>
          <a:xfrm>
            <a:off x="4892040" y="2999232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58775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Cambria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56616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Cambria"/>
              </a:rPr>
              <a:t>Notification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023360"/>
            <a:ext cx="19659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Calibri"/>
              </a:rPr>
              <a:t>Approval event triggers a real-time email/in-app alert.</a:t>
            </a:r>
          </a:p>
        </p:txBody>
      </p:sp>
      <p:sp>
        <p:nvSpPr>
          <p:cNvPr id="20" name="Oval 19"/>
          <p:cNvSpPr/>
          <p:nvPr/>
        </p:nvSpPr>
        <p:spPr>
          <a:xfrm>
            <a:off x="7040880" y="2999232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58775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Cambria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56616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Cambria"/>
              </a:rPr>
              <a:t>CI/CD in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023360"/>
            <a:ext cx="19659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Calibri"/>
              </a:rPr>
              <a:t>A live code push triggers the pipeline and a zero-downtime rollout.</a:t>
            </a:r>
          </a:p>
        </p:txBody>
      </p:sp>
      <p:sp>
        <p:nvSpPr>
          <p:cNvPr id="24" name="Oval 23"/>
          <p:cNvSpPr/>
          <p:nvPr/>
        </p:nvSpPr>
        <p:spPr>
          <a:xfrm>
            <a:off x="9189720" y="2999232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58775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Cambria"/>
              </a:rPr>
              <a:t>Step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56616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Cambria"/>
              </a:rPr>
              <a:t>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023360"/>
            <a:ext cx="19659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Calibri"/>
              </a:rPr>
              <a:t>Dashboard view of autoscaling, service health, and logs under load.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48912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Team Member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Module Owned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Individual Contribution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Skills Demonstrated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Viva Focus Area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Pasupuleti Moukshitha – 2420030164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Employee/Auth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Built the Auth DB schema, login/JWT flow, and API Gateway skeleton.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Spring Boot / Node.js, JWT auth, REST API design.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Authentication flow, API Gateway routing and security.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Kamalesh Battula – 2420030156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Attendance &amp; Leave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Implemented QR/web check-in logging and the leave apply/approval workflow.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Database-per-service design, workflow state machines.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Attendance logging logic, leave-approval workflow.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Nitish Chowdary Potla – 2420030642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Notification Service &amp; Infra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Set up the message broker, Notification service, Docker/K8s manifests, and CI/CD pipeline.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Kubernetes, Helm, CI/CD tooling, event-driven design.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Deployment pipeline, monitoring &amp; observability setup.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3048000" y="136525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Individual Contribution &amp; Viva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23-09-26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CNAD Review 2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8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732</Words>
  <Application>Microsoft Office PowerPoint</Application>
  <PresentationFormat>Widescreen</PresentationFormat>
  <Paragraphs>129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Cambria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NITISH .P</cp:lastModifiedBy>
  <cp:revision>33</cp:revision>
  <dcterms:created xsi:type="dcterms:W3CDTF">2026-08-08T06:33:56Z</dcterms:created>
  <dcterms:modified xsi:type="dcterms:W3CDTF">2026-09-23T04:00:53Z</dcterms:modified>
</cp:coreProperties>
</file>